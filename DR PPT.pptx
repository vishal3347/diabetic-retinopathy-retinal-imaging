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1"/>
  </p:notesMasterIdLst>
  <p:handoutMasterIdLst>
    <p:handoutMasterId r:id="rId32"/>
  </p:handoutMasterIdLst>
  <p:sldIdLst>
    <p:sldId id="257" r:id="rId5"/>
    <p:sldId id="268" r:id="rId6"/>
    <p:sldId id="279" r:id="rId7"/>
    <p:sldId id="278" r:id="rId8"/>
    <p:sldId id="282" r:id="rId9"/>
    <p:sldId id="273" r:id="rId10"/>
    <p:sldId id="274" r:id="rId11"/>
    <p:sldId id="283" r:id="rId12"/>
    <p:sldId id="275" r:id="rId13"/>
    <p:sldId id="276" r:id="rId14"/>
    <p:sldId id="291" r:id="rId15"/>
    <p:sldId id="292" r:id="rId16"/>
    <p:sldId id="269" r:id="rId17"/>
    <p:sldId id="308" r:id="rId18"/>
    <p:sldId id="270" r:id="rId19"/>
    <p:sldId id="286" r:id="rId20"/>
    <p:sldId id="304" r:id="rId21"/>
    <p:sldId id="305" r:id="rId22"/>
    <p:sldId id="306" r:id="rId23"/>
    <p:sldId id="307" r:id="rId24"/>
    <p:sldId id="261" r:id="rId25"/>
    <p:sldId id="290" r:id="rId26"/>
    <p:sldId id="280" r:id="rId27"/>
    <p:sldId id="281" r:id="rId28"/>
    <p:sldId id="284" r:id="rId29"/>
    <p:sldId id="271" r:id="rId30"/>
  </p:sldIdLst>
  <p:sldSz cx="12188825" cy="6858000"/>
  <p:notesSz cx="6815138" cy="99472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33">
          <p15:clr>
            <a:srgbClr val="A4A3A4"/>
          </p15:clr>
        </p15:guide>
        <p15:guide id="4" pos="214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run selvam" initials="vs" lastIdx="1" clrIdx="0">
    <p:extLst>
      <p:ext uri="{19B8F6BF-5375-455C-9EA6-DF929625EA0E}">
        <p15:presenceInfo xmlns:p15="http://schemas.microsoft.com/office/powerpoint/2012/main" userId="c0e2084992a3a6c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6F54"/>
    <a:srgbClr val="E6E6E6"/>
    <a:srgbClr val="F7F9F1"/>
    <a:srgbClr val="394404"/>
    <a:srgbClr val="A53010"/>
    <a:srgbClr val="66FF33"/>
    <a:srgbClr val="5F6F0F"/>
    <a:srgbClr val="718412"/>
    <a:srgbClr val="65741A"/>
    <a:srgbClr val="708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6" autoAdjust="0"/>
    <p:restoredTop sz="94660" autoAdjust="0"/>
  </p:normalViewPr>
  <p:slideViewPr>
    <p:cSldViewPr>
      <p:cViewPr varScale="1">
        <p:scale>
          <a:sx n="88" d="100"/>
          <a:sy n="88" d="100"/>
        </p:scale>
        <p:origin x="528" y="67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306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2410" y="58"/>
      </p:cViewPr>
      <p:guideLst>
        <p:guide orient="horz" pos="2880"/>
        <p:guide pos="2160"/>
        <p:guide orient="horz" pos="3133"/>
        <p:guide pos="214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3226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60335" y="0"/>
            <a:ext cx="2953226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12/5/2023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53226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60335" y="9448185"/>
            <a:ext cx="2953226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3226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335" y="0"/>
            <a:ext cx="2953226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pPr/>
              <a:t>12/5/2023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514" y="4724956"/>
            <a:ext cx="5452110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53226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335" y="9448185"/>
            <a:ext cx="2953226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8539" y="2514601"/>
            <a:ext cx="8913077" cy="2262781"/>
          </a:xfrm>
        </p:spPr>
        <p:txBody>
          <a:bodyPr anchor="b">
            <a:normAutofit/>
          </a:bodyPr>
          <a:lstStyle>
            <a:lvl1pPr>
              <a:defRPr sz="5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8539" y="4777380"/>
            <a:ext cx="8913077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744198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4529541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79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250" y="624110"/>
            <a:ext cx="8909366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538" y="2133600"/>
            <a:ext cx="8913078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48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2058750"/>
            <a:ext cx="8913077" cy="146880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3530129"/>
            <a:ext cx="8913077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61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8538" y="2133600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8874" y="2126222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54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8608" y="1972703"/>
            <a:ext cx="399169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8538" y="2548966"/>
            <a:ext cx="4341762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4674" y="1969475"/>
            <a:ext cx="39979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5091" y="2545738"/>
            <a:ext cx="433754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95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78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60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446088"/>
            <a:ext cx="3504286" cy="976312"/>
          </a:xfrm>
        </p:spPr>
        <p:txBody>
          <a:bodyPr anchor="b"/>
          <a:lstStyle>
            <a:lvl1pPr algn="l">
              <a:defRPr sz="1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365" y="446089"/>
            <a:ext cx="518025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8" y="1598613"/>
            <a:ext cx="3504286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89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4800600"/>
            <a:ext cx="891307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8538" y="634965"/>
            <a:ext cx="8913078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367338"/>
            <a:ext cx="891307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26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09600"/>
            <a:ext cx="8913077" cy="311704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267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4159" y="3505200"/>
            <a:ext cx="7534591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6994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2438401"/>
            <a:ext cx="8913078" cy="2724845"/>
          </a:xfrm>
        </p:spPr>
        <p:txBody>
          <a:bodyPr anchor="b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254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1409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27407"/>
            <a:ext cx="8913077" cy="2880020"/>
          </a:xfrm>
        </p:spPr>
        <p:txBody>
          <a:bodyPr anchor="ctr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13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35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2392" y="627406"/>
            <a:ext cx="220702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8538" y="627406"/>
            <a:ext cx="6475313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87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0773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14" y="-786"/>
            <a:ext cx="2356060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32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249" y="624110"/>
            <a:ext cx="8909366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2133600"/>
            <a:ext cx="8913078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8914" y="6130437"/>
            <a:ext cx="1145984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8538" y="6135809"/>
            <a:ext cx="76180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674" y="787783"/>
            <a:ext cx="77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9">
                <a:solidFill>
                  <a:srgbClr val="FEFFFF"/>
                </a:solidFill>
              </a:defRPr>
            </a:lvl1pPr>
          </a:lstStyle>
          <a:p>
            <a:fld id="{C014DD1E-5D91-48A3-AD6D-45FBA980D1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33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97868" y="1268760"/>
            <a:ext cx="10657184" cy="5589240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4000" dirty="0">
                <a:solidFill>
                  <a:srgbClr val="A530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DETECTION OF DIABETIC RETINOPATHY FROM RETINAL IMAGING</a:t>
            </a:r>
            <a:endParaRPr lang="en-US" sz="1400" b="1" dirty="0">
              <a:solidFill>
                <a:srgbClr val="766F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A530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</a:t>
            </a:r>
            <a:endParaRPr lang="en-US" sz="2000" dirty="0">
              <a:solidFill>
                <a:srgbClr val="A530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2" y="609600"/>
            <a:ext cx="4419600" cy="6096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 :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589212" y="1676400"/>
            <a:ext cx="8913078" cy="3777622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Objective</a:t>
            </a:r>
          </a:p>
          <a:p>
            <a:r>
              <a:rPr lang="en-US" sz="2600" dirty="0"/>
              <a:t>Abstract</a:t>
            </a:r>
          </a:p>
          <a:p>
            <a:r>
              <a:rPr lang="en-US" sz="2600" dirty="0"/>
              <a:t>Introduction</a:t>
            </a:r>
          </a:p>
          <a:p>
            <a:r>
              <a:rPr lang="en-US" sz="2600" dirty="0"/>
              <a:t>Literature Survey</a:t>
            </a:r>
          </a:p>
          <a:p>
            <a:r>
              <a:rPr lang="en-US" sz="2600" dirty="0"/>
              <a:t>Existing Work</a:t>
            </a:r>
          </a:p>
          <a:p>
            <a:r>
              <a:rPr lang="en-US" sz="2600" dirty="0"/>
              <a:t>Proposed Work</a:t>
            </a:r>
          </a:p>
          <a:p>
            <a:r>
              <a:rPr lang="en-US" sz="2600" dirty="0"/>
              <a:t>Software &amp; Required system Configuration Used and Application</a:t>
            </a:r>
          </a:p>
          <a:p>
            <a:r>
              <a:rPr lang="en-US" sz="2600" dirty="0"/>
              <a:t>Reference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8BF6D1-BA81-4666-975F-9244FA08D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685800"/>
            <a:ext cx="8909366" cy="1280890"/>
          </a:xfrm>
        </p:spPr>
        <p:txBody>
          <a:bodyPr/>
          <a:lstStyle/>
          <a:p>
            <a:r>
              <a:rPr lang="en-IN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9F6FF4-2C43-4EF6-A4F3-251DE7E87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76400"/>
            <a:ext cx="8913078" cy="3802203"/>
          </a:xfrm>
        </p:spPr>
        <p:txBody>
          <a:bodyPr/>
          <a:lstStyle/>
          <a:p>
            <a:pPr algn="just"/>
            <a:r>
              <a:rPr lang="en-IN" sz="2400" dirty="0"/>
              <a:t>To develop a system for detecting diabetic retinopathy from the retinal image with wide range of classification and high accuracy.</a:t>
            </a:r>
          </a:p>
          <a:p>
            <a:endParaRPr lang="en-IN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xmlns="" id="{21CBC404-C34E-4A10-994E-B5885174D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812" y="3124200"/>
            <a:ext cx="5181600" cy="277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2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BB0361-B263-43BF-A734-D44672F4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609600"/>
            <a:ext cx="8900404" cy="762000"/>
          </a:xfrm>
        </p:spPr>
        <p:txBody>
          <a:bodyPr/>
          <a:lstStyle/>
          <a:p>
            <a:r>
              <a:rPr lang="en-IN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3E8AAD-9395-43A6-AB6B-DFD186FAD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0534" y="1376516"/>
            <a:ext cx="8913078" cy="4871884"/>
          </a:xfrm>
        </p:spPr>
        <p:txBody>
          <a:bodyPr>
            <a:noAutofit/>
          </a:bodyPr>
          <a:lstStyle/>
          <a:p>
            <a:pPr algn="just"/>
            <a:r>
              <a:rPr lang="en-US" sz="2200" dirty="0"/>
              <a:t>Diabetic Retinopathy is the most common cause of vision loss among people with diabetes and the leading cause of vision impairment and blindness among working-age adults. </a:t>
            </a:r>
          </a:p>
          <a:p>
            <a:pPr algn="just"/>
            <a:r>
              <a:rPr lang="en-US" sz="2200" dirty="0"/>
              <a:t>By using a certain algorithm the retinal image from the user is fed into system.</a:t>
            </a:r>
          </a:p>
          <a:p>
            <a:pPr algn="just"/>
            <a:r>
              <a:rPr lang="en-US" sz="2200" dirty="0"/>
              <a:t>The blood vessels are extracted from the image then it is pre-processed by filtering and segmentation process.</a:t>
            </a:r>
          </a:p>
          <a:p>
            <a:pPr algn="just"/>
            <a:r>
              <a:rPr lang="en-US" sz="2200" dirty="0"/>
              <a:t> It is followed by fractional edge reduction which is used for the feature extraction and by using a Faster retinal convolutional neural network algorithm to automate the diagnosis process.</a:t>
            </a:r>
          </a:p>
          <a:p>
            <a:pPr algn="just"/>
            <a:r>
              <a:rPr lang="en-US" sz="2200" dirty="0"/>
              <a:t>It improves the resultant accuracy and by this classification technique we can achieve high accuracy.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05917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E00D44-14C2-47CC-BAC5-6BB7AC5B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685800"/>
            <a:ext cx="8909366" cy="820994"/>
          </a:xfrm>
        </p:spPr>
        <p:txBody>
          <a:bodyPr/>
          <a:lstStyle/>
          <a:p>
            <a:r>
              <a:rPr lang="en-IN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A83AC2-4AB5-466E-B15F-C37708641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4412" y="1524000"/>
            <a:ext cx="8913078" cy="4751439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"/>
              <a:tabLst>
                <a:tab pos="457200" algn="l"/>
              </a:tabLst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These days, more number of individuals are affected by diabetes which leads to diabetic retinopathy.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"/>
              <a:tabLst>
                <a:tab pos="457200" algn="l"/>
              </a:tabLst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Diabetes mellitus, commonly known as diabetes, is a lifelong disease and is a group of metabolic disorder characterized by high levels of sugar in blood.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"/>
              <a:tabLst>
                <a:tab pos="457200" algn="l"/>
              </a:tabLst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Diabetes is caused either due to pancreas not producing enough insulin or the cells of the body not responding properly to the insulin produced.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"/>
              <a:tabLst>
                <a:tab pos="457200" algn="l"/>
              </a:tabLst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Among 23 million Americans, 59 million Europeans and as many as 50 million Indians suffering from diabetes.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1719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80F2C8-C069-4669-BCEA-F744FF2A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624110"/>
            <a:ext cx="8909366" cy="823690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IN" sz="4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4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784BD7-171D-4BF0-AE66-AB8E67F1A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12" y="990600"/>
            <a:ext cx="8913078" cy="5105400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solidFill>
                  <a:srgbClr val="111111"/>
                </a:solidFill>
                <a:effectLst/>
                <a:ea typeface="Times New Roman" panose="02020603050405020304" pitchFamily="18" charset="0"/>
              </a:rPr>
              <a:t>Diabetic retinopathy is a diabetes complication </a:t>
            </a:r>
            <a:r>
              <a:rPr lang="en-IN" sz="2400" dirty="0">
                <a:solidFill>
                  <a:srgbClr val="22222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that can cause vision loss and blindness in people who have diabetes</a:t>
            </a:r>
            <a:r>
              <a:rPr lang="en-IN" sz="2400" dirty="0">
                <a:solidFill>
                  <a:srgbClr val="111111"/>
                </a:solidFill>
                <a:effectLst/>
                <a:ea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400" dirty="0">
                <a:solidFill>
                  <a:srgbClr val="111111"/>
                </a:solidFill>
                <a:effectLst/>
                <a:ea typeface="Times New Roman" panose="02020603050405020304" pitchFamily="18" charset="0"/>
              </a:rPr>
              <a:t> It causes damage to the blood vessels of the light-sensitive tissue at the back of the retina.</a:t>
            </a:r>
          </a:p>
          <a:p>
            <a:pPr algn="just"/>
            <a:r>
              <a:rPr lang="en-US" sz="2400" dirty="0">
                <a:solidFill>
                  <a:srgbClr val="111111"/>
                </a:solidFill>
                <a:effectLst/>
                <a:ea typeface="Times New Roman" panose="02020603050405020304" pitchFamily="18" charset="0"/>
              </a:rPr>
              <a:t>From 2000 to 2010, the number of cases of diabetic retinopathy increased 89 percent from 4.06 million to 7.69 million worldwide.</a:t>
            </a:r>
            <a:endParaRPr lang="en-IN" sz="2400" dirty="0">
              <a:solidFill>
                <a:srgbClr val="111111"/>
              </a:solidFill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b="0" i="0" dirty="0">
                <a:solidFill>
                  <a:srgbClr val="202124"/>
                </a:solidFill>
                <a:effectLst/>
              </a:rPr>
              <a:t>The Union Health Ministry's first National Diabetes and Diabetic Retinopathy Survey (2015-19) has revealed that the prevalence of Diabetic Retinopathy (DR) is 16.9 per cent while the prevalence of sight-threatening DR is 3.6 per cent.</a:t>
            </a:r>
            <a:endParaRPr lang="en-IN" sz="2400" dirty="0">
              <a:solidFill>
                <a:srgbClr val="111111"/>
              </a:solidFill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98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xmlns="" id="{327BDB0A-D4FF-458B-9830-A08DD8C7C4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035520"/>
              </p:ext>
            </p:extLst>
          </p:nvPr>
        </p:nvGraphicFramePr>
        <p:xfrm>
          <a:off x="1370012" y="1447800"/>
          <a:ext cx="10287001" cy="686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xmlns="" val="1251016258"/>
                    </a:ext>
                  </a:extLst>
                </a:gridCol>
                <a:gridCol w="2742372">
                  <a:extLst>
                    <a:ext uri="{9D8B030D-6E8A-4147-A177-3AD203B41FA5}">
                      <a16:colId xmlns:a16="http://schemas.microsoft.com/office/drawing/2014/main" xmlns="" val="1296669244"/>
                    </a:ext>
                  </a:extLst>
                </a:gridCol>
                <a:gridCol w="1900859">
                  <a:extLst>
                    <a:ext uri="{9D8B030D-6E8A-4147-A177-3AD203B41FA5}">
                      <a16:colId xmlns:a16="http://schemas.microsoft.com/office/drawing/2014/main" xmlns="" val="4239299263"/>
                    </a:ext>
                  </a:extLst>
                </a:gridCol>
                <a:gridCol w="3205370">
                  <a:extLst>
                    <a:ext uri="{9D8B030D-6E8A-4147-A177-3AD203B41FA5}">
                      <a16:colId xmlns:a16="http://schemas.microsoft.com/office/drawing/2014/main" xmlns="" val="4012020637"/>
                    </a:ext>
                  </a:extLst>
                </a:gridCol>
              </a:tblGrid>
              <a:tr h="65009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2417600"/>
                  </a:ext>
                </a:extLst>
              </a:tr>
              <a:tr h="2145323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+mn-lt"/>
                        </a:rPr>
                        <a:t>Diabetic Retinopathy Detection Using Prognosis of Microaneurysm and Early Diagnosis System for Non-Proliferative Diabetic Retinopathy Based on Deep learning Algorithms(2020)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The detection of retinopathy is based on the analysis of microaneurysms.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Semantic Segmentation is used to divide image pixels.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Convolution Neural Network algorithm is used.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High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IN" sz="1800" dirty="0"/>
                        <a:t>Retinopathy is detected only based on the analysis of micro aneurysms features.</a:t>
                      </a: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70056960"/>
                  </a:ext>
                </a:extLst>
              </a:tr>
              <a:tr h="1852779">
                <a:tc>
                  <a:txBody>
                    <a:bodyPr/>
                    <a:lstStyle/>
                    <a:p>
                      <a:pPr marL="0" marR="0" lvl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99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weakly supervised </a:t>
                      </a:r>
                      <a:r>
                        <a:rPr lang="en-US" sz="1799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framework for interpretable diabetic retinopathy detection on retinal </a:t>
                      </a:r>
                      <a:r>
                        <a:rPr lang="en-IN" sz="1799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Images(2020)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Multiple instance learning(MIL) framework is used.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proposed technique is the joint optimization of the instance encoding and the image classification stages.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Offline Mode 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can obtain only the mid-level representation of pathological images.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407167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0F91A4-6A59-46D4-B861-DD0EE36A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2" y="609600"/>
            <a:ext cx="8909366" cy="838200"/>
          </a:xfrm>
        </p:spPr>
        <p:txBody>
          <a:bodyPr/>
          <a:lstStyle/>
          <a:p>
            <a:r>
              <a:rPr lang="en-IN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</p:txBody>
      </p:sp>
    </p:spTree>
    <p:extLst>
      <p:ext uri="{BB962C8B-B14F-4D97-AF65-F5344CB8AC3E}">
        <p14:creationId xmlns:p14="http://schemas.microsoft.com/office/powerpoint/2010/main" val="423376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9D40EC1A-9780-4677-B706-0656B3C92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177064"/>
              </p:ext>
            </p:extLst>
          </p:nvPr>
        </p:nvGraphicFramePr>
        <p:xfrm>
          <a:off x="1598612" y="762000"/>
          <a:ext cx="9829800" cy="70408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xmlns="" val="4071843932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xmlns="" val="201169334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xmlns="" val="354101131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xmlns="" val="4061931305"/>
                    </a:ext>
                  </a:extLst>
                </a:gridCol>
              </a:tblGrid>
              <a:tr h="833366">
                <a:tc>
                  <a:txBody>
                    <a:bodyPr/>
                    <a:lstStyle/>
                    <a:p>
                      <a:pPr marL="0" marR="0" lvl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99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en-US" sz="1799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method for the detection and classification of diabetic retinopathy using structural predictors of bright lesions(2019)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Gabor filter is applied to the gray scale image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lesion enhancement.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features set is selected for each candidate lesion using a combination of statistical and geometric features.</a:t>
                      </a:r>
                      <a:endParaRPr lang="en-I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/>
                        <a:t>4 stages of disease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Font typeface="Arial" pitchFamily="34" charset="0"/>
                        <a:buNone/>
                      </a:pPr>
                      <a:r>
                        <a:rPr lang="en-US" sz="1799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pre processing, Gabor filter is used which takes more time for performing features due to its dimension of feature vector is very long.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2000252"/>
                  </a:ext>
                </a:extLst>
              </a:tr>
              <a:tr h="1893476">
                <a:tc>
                  <a:txBody>
                    <a:bodyPr/>
                    <a:lstStyle/>
                    <a:p>
                      <a:pPr marL="0" marR="0" lvl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Automated diabetic retinopathy detection using optical </a:t>
                      </a:r>
                      <a:r>
                        <a:rPr lang="en-IN" sz="1799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coherence tomography angiography: </a:t>
                      </a:r>
                      <a:r>
                        <a:rPr lang="en-US" sz="1800" b="0" i="0" u="none" strike="noStrike" baseline="0" dirty="0">
                          <a:solidFill>
                            <a:srgbClr val="222222"/>
                          </a:solidFill>
                        </a:rPr>
                        <a:t>a pilot study</a:t>
                      </a:r>
                      <a:r>
                        <a:rPr lang="en-US" sz="1800" b="1" i="0" u="none" strike="noStrike" baseline="0" dirty="0">
                          <a:solidFill>
                            <a:srgbClr val="222222"/>
                          </a:solidFill>
                        </a:rPr>
                        <a:t> </a:t>
                      </a:r>
                      <a:r>
                        <a:rPr lang="en-IN" sz="1799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(2020)</a:t>
                      </a:r>
                      <a:endParaRPr lang="en-IN" dirty="0">
                        <a:latin typeface="+mn-lt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dirty="0"/>
                        <a:t>OCTA is increasingly used to evaluate diabetic retinopathy.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dirty="0"/>
                        <a:t>The purpose of this study was designed by computer aided diagnosis(CAD).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dirty="0"/>
                        <a:t>Combining the system with OCTA data is a plausible next step that would likely improve its robustness.</a:t>
                      </a:r>
                    </a:p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Tomography Process Discussed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Font typeface="Arial" pitchFamily="34" charset="0"/>
                        <a:buNone/>
                      </a:pPr>
                      <a:r>
                        <a:rPr lang="en-US" sz="1799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Only adults with type II                  diabetes mellitus (DMII) were eligible</a:t>
                      </a:r>
                      <a:r>
                        <a:rPr lang="en-US" sz="1799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799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OCTA scans of the macula were taken, and the five vascular maps generated per eye were analyzed by a novel CAD system.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794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57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DB86DD93-5AD1-44C2-A96B-BC9D39DAC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873923"/>
              </p:ext>
            </p:extLst>
          </p:nvPr>
        </p:nvGraphicFramePr>
        <p:xfrm>
          <a:off x="1598612" y="762000"/>
          <a:ext cx="10134600" cy="868451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xmlns="" val="2274989318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xmlns="" val="372763628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41307040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xmlns="" val="3170369313"/>
                    </a:ext>
                  </a:extLst>
                </a:gridCol>
              </a:tblGrid>
              <a:tr h="1343907">
                <a:tc>
                  <a:txBody>
                    <a:bodyPr/>
                    <a:lstStyle/>
                    <a:p>
                      <a:pPr marL="0" marR="0" lvl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Deep image mining for diabetic retinopathy screening</a:t>
                      </a:r>
                      <a:r>
                        <a:rPr lang="en-IN" sz="1799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(2020)</a:t>
                      </a:r>
                      <a:endParaRPr lang="en-IN" dirty="0"/>
                    </a:p>
                    <a:p>
                      <a:endParaRPr lang="en-IN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dirty="0"/>
                        <a:t>The proposed solution is a promising image mining tool which discover new biomarkers in images.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dirty="0"/>
                        <a:t>DR screening, severity grade were grouped into Non-referable DR and Referable DR.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dirty="0"/>
                        <a:t>Low Quality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dirty="0"/>
                        <a:t>Image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Tx/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It creates heat maps</a:t>
                      </a:r>
                    </a:p>
                    <a:p>
                      <a:pPr marL="285750" lvl="0" indent="-285750" algn="l">
                        <a:buFontTx/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showing which pixels in </a:t>
                      </a:r>
                    </a:p>
                    <a:p>
                      <a:pPr marL="285750" lvl="0" indent="-285750" algn="l">
                        <a:buFontTx/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images play a role in the </a:t>
                      </a:r>
                    </a:p>
                    <a:p>
                      <a:pPr marL="285750" lvl="0" indent="-285750" algn="l">
                        <a:buFontTx/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image-level predictions and </a:t>
                      </a:r>
                    </a:p>
                    <a:p>
                      <a:pPr marL="285750" lvl="0" indent="-285750" algn="l">
                        <a:buFontTx/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a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+mn-lt"/>
                        </a:rPr>
                        <a:t>ConvNet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 is used for </a:t>
                      </a:r>
                    </a:p>
                    <a:p>
                      <a:pPr marL="285750" lvl="0" indent="-285750" algn="l">
                        <a:buFontTx/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image-level classification.</a:t>
                      </a:r>
                      <a:endParaRPr lang="en-IN" b="0" dirty="0">
                        <a:latin typeface="+mn-lt"/>
                      </a:endParaRPr>
                    </a:p>
                    <a:p>
                      <a:pPr marL="285750" lvl="0" indent="-285750" algn="l">
                        <a:buFontTx/>
                        <a:buNone/>
                      </a:pPr>
                      <a:endParaRPr lang="en-IN" b="0" dirty="0">
                        <a:latin typeface="+mn-lt"/>
                      </a:endParaRPr>
                    </a:p>
                    <a:p>
                      <a:pPr marL="285750" lvl="0" indent="-285750" algn="l">
                        <a:buFontTx/>
                        <a:buNone/>
                      </a:pPr>
                      <a:endParaRPr lang="en-IN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50622414"/>
                  </a:ext>
                </a:extLst>
              </a:tr>
              <a:tr h="1343907">
                <a:tc>
                  <a:txBody>
                    <a:bodyPr/>
                    <a:lstStyle/>
                    <a:p>
                      <a:pPr marL="0" marR="0" lvl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Automatic Microaneurysm Detection Using the Sparse Principal Component Analysis-Based Unsupervised Classification Method(2019) </a:t>
                      </a:r>
                      <a:endParaRPr lang="en-US" sz="1799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Generally, MA candidates are first identified and machine-learning methods are applied for candidate classification. </a:t>
                      </a:r>
                      <a:endParaRPr lang="en-US" dirty="0" err="1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proposed solution in this paper, was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a novel unsupervised classification method based on sparse posterior cerebral artery (PCA) for MA detection.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Unsupervised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None/>
                      </a:pPr>
                      <a:r>
                        <a:rPr lang="en-IN" dirty="0"/>
                        <a:t>In this proposed system only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None/>
                      </a:pPr>
                      <a:r>
                        <a:rPr lang="en-IN" dirty="0"/>
                        <a:t>microaneurysm</a:t>
                      </a:r>
                      <a:r>
                        <a:rPr lang="en-IN" baseline="0" dirty="0"/>
                        <a:t> (MA)is being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None/>
                      </a:pPr>
                      <a:r>
                        <a:rPr lang="en-IN" baseline="0" dirty="0"/>
                        <a:t>detected.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12334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27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99203329-568E-43BB-852C-3FAB4F304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623326"/>
              </p:ext>
            </p:extLst>
          </p:nvPr>
        </p:nvGraphicFramePr>
        <p:xfrm>
          <a:off x="1598612" y="762000"/>
          <a:ext cx="9549340" cy="5562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xmlns="" val="4284211270"/>
                    </a:ext>
                  </a:extLst>
                </a:gridCol>
                <a:gridCol w="2577041">
                  <a:extLst>
                    <a:ext uri="{9D8B030D-6E8A-4147-A177-3AD203B41FA5}">
                      <a16:colId xmlns:a16="http://schemas.microsoft.com/office/drawing/2014/main" xmlns="" val="289907424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xmlns="" val="3683449505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xmlns="" val="2941350493"/>
                    </a:ext>
                  </a:extLst>
                </a:gridCol>
              </a:tblGrid>
              <a:tr h="2639878">
                <a:tc>
                  <a:txBody>
                    <a:bodyPr/>
                    <a:lstStyle/>
                    <a:p>
                      <a:r>
                        <a:rPr lang="en-I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Zoom-in-net: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Deep mining lesions for diabetic retinopathy detection(2019)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/>
                        <a:t>A convolution neural network based algorithm for diagnosing DR and highlighting suspicious regions.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/>
                        <a:t>A network termed zoom-in-net which mimics the zoom-in process of a clinician to examine the retinal image.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/>
                        <a:t>Deep Learning Support Provided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b="0" dirty="0"/>
                        <a:t>In this proposed system, only the image-level supervision could be done.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1004243"/>
                  </a:ext>
                </a:extLst>
              </a:tr>
              <a:tr h="2922722">
                <a:tc>
                  <a:txBody>
                    <a:bodyPr/>
                    <a:lstStyle/>
                    <a:p>
                      <a:r>
                        <a:rPr lang="en-I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Early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detection of diabetic retinopathy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(2019)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This proposed technique uses retinal structural test, retinal functional test and molecular biomarker.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OCT angiography is used in retinal structural test.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In molecular biomarker, the bio marks of blood vessels and tissues is compared with the previous test results.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Web App Implementation Available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Several tests are taken to diagnose a single factor of diabetic retinopathy which may involve high time consistency.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4694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42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99203329-568E-43BB-852C-3FAB4F304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455768"/>
              </p:ext>
            </p:extLst>
          </p:nvPr>
        </p:nvGraphicFramePr>
        <p:xfrm>
          <a:off x="1598612" y="762000"/>
          <a:ext cx="9549340" cy="5562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15141">
                  <a:extLst>
                    <a:ext uri="{9D8B030D-6E8A-4147-A177-3AD203B41FA5}">
                      <a16:colId xmlns:a16="http://schemas.microsoft.com/office/drawing/2014/main" xmlns="" val="428421127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xmlns="" val="289907424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xmlns="" val="954001475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xmlns="" val="2941350493"/>
                    </a:ext>
                  </a:extLst>
                </a:gridCol>
              </a:tblGrid>
              <a:tr h="2639878">
                <a:tc>
                  <a:txBody>
                    <a:bodyPr/>
                    <a:lstStyle/>
                    <a:p>
                      <a:r>
                        <a:rPr lang="en-US" sz="1400" b="0" dirty="0"/>
                        <a:t>Detection of Diabetic Retinopathy using Machine Learning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(2021)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we try and summarize the various models and techniques used along with methodologies used by them and analyze the accuracies and results.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/>
                        <a:t> More Accuracy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dirty="0"/>
                        <a:t>It will give us exactness of which algorithm will be appropriate and more accurate for prediction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1004243"/>
                  </a:ext>
                </a:extLst>
              </a:tr>
              <a:tr h="2922722">
                <a:tc>
                  <a:txBody>
                    <a:bodyPr/>
                    <a:lstStyle/>
                    <a:p>
                      <a:r>
                        <a:rPr lang="en-US" sz="1400" b="0" dirty="0"/>
                        <a:t>Diabetic Retinopathy Classification from Retinal Images using Machine Learning Approach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(2021)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aim is to develop a system that will be able to identify patients with Diabetic Retinopathy from retinal </a:t>
                      </a:r>
                      <a:r>
                        <a:rPr lang="en-US" sz="1400" b="0" dirty="0" err="1"/>
                        <a:t>colour</a:t>
                      </a:r>
                      <a:r>
                        <a:rPr lang="en-US" sz="1400" b="0" dirty="0"/>
                        <a:t> fundus images. 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/>
                        <a:t>Multiple stages can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dirty="0"/>
                        <a:t>Classification is performed using Random Forest classifier.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dirty="0"/>
                        <a:t>It classifies five classes of Diabetic Retinopathy.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4694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35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99203329-568E-43BB-852C-3FAB4F304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83256"/>
              </p:ext>
            </p:extLst>
          </p:nvPr>
        </p:nvGraphicFramePr>
        <p:xfrm>
          <a:off x="1598612" y="762000"/>
          <a:ext cx="9549340" cy="7223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15141">
                  <a:extLst>
                    <a:ext uri="{9D8B030D-6E8A-4147-A177-3AD203B41FA5}">
                      <a16:colId xmlns:a16="http://schemas.microsoft.com/office/drawing/2014/main" xmlns="" val="428421127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xmlns="" val="289907424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xmlns="" val="2162787077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xmlns="" val="2941350493"/>
                    </a:ext>
                  </a:extLst>
                </a:gridCol>
              </a:tblGrid>
              <a:tr h="2639878">
                <a:tc>
                  <a:txBody>
                    <a:bodyPr/>
                    <a:lstStyle/>
                    <a:p>
                      <a:r>
                        <a:rPr lang="en-US" sz="1400" b="0" dirty="0"/>
                        <a:t>Classifying Diabetic Retinopathy using Deep Learning Architecture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(2020)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A proposed deep learning approach such as Deep Convolutional Neural Network(DCNN) gives high accuracy in classification of these diseases through spatial analysis.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Deep Learning Algorithm gives more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dirty="0"/>
                        <a:t>.A DCNN is more complex architecture inferred more from human visual </a:t>
                      </a:r>
                      <a:r>
                        <a:rPr lang="en-US" sz="1400" b="0" dirty="0" err="1"/>
                        <a:t>perspects</a:t>
                      </a:r>
                      <a:r>
                        <a:rPr lang="en-US" sz="1400" b="0" dirty="0"/>
                        <a:t>. Amongst other supervised algorithms involved, proposed solution is to find a better and optimized way to classifying the fundus image with little pre-processing techniques.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1004243"/>
                  </a:ext>
                </a:extLst>
              </a:tr>
              <a:tr h="2922722">
                <a:tc>
                  <a:txBody>
                    <a:bodyPr/>
                    <a:lstStyle/>
                    <a:p>
                      <a:r>
                        <a:rPr lang="en-US" sz="1400" b="0" dirty="0"/>
                        <a:t>Diabetic Retinopathy Detection using Ensemble Machine Learning </a:t>
                      </a: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(2021)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The proposed framework achieved the highest accuracy rates among all other common classification algorithms in the area. 4 </a:t>
                      </a:r>
                      <a:r>
                        <a:rPr lang="en-US" sz="1400" b="0" dirty="0" err="1"/>
                        <a:t>subdatasets</a:t>
                      </a:r>
                      <a:r>
                        <a:rPr lang="en-US" sz="1400" b="0" dirty="0"/>
                        <a:t> were generated to contain the top 5 and top 10 features of the </a:t>
                      </a:r>
                      <a:r>
                        <a:rPr lang="en-US" sz="1400" b="0" dirty="0" err="1"/>
                        <a:t>Messidor</a:t>
                      </a:r>
                      <a:r>
                        <a:rPr lang="en-US" sz="1400" b="0" dirty="0"/>
                        <a:t> dataset, selected by </a:t>
                      </a:r>
                      <a:r>
                        <a:rPr lang="en-US" sz="1400" b="0" dirty="0" err="1"/>
                        <a:t>InfoGainEval</a:t>
                      </a:r>
                      <a:r>
                        <a:rPr lang="en-US" sz="1400" b="0" dirty="0"/>
                        <a:t>.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 err="1"/>
                        <a:t>Upto</a:t>
                      </a:r>
                      <a:r>
                        <a:rPr lang="en-IN" sz="1400" b="0" dirty="0"/>
                        <a:t> 10 Disease Features Considered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dirty="0"/>
                        <a:t>accuracies of 70.7% and 75.1% were achieved on the </a:t>
                      </a:r>
                      <a:r>
                        <a:rPr lang="en-US" sz="1400" b="0" dirty="0" err="1"/>
                        <a:t>InfoGainEval</a:t>
                      </a:r>
                      <a:r>
                        <a:rPr lang="en-US" sz="1400" b="0" dirty="0"/>
                        <a:t>. top 5 and original dataset respectively. The results imply the impressive performance of the </a:t>
                      </a:r>
                      <a:r>
                        <a:rPr lang="en-US" sz="1400" b="0" dirty="0" err="1"/>
                        <a:t>subdataset</a:t>
                      </a:r>
                      <a:r>
                        <a:rPr lang="en-US" sz="1400" b="0" dirty="0"/>
                        <a:t>, which significantly conduces to a less complex classification process when compared to the original complete </a:t>
                      </a:r>
                      <a:r>
                        <a:rPr lang="en-US" sz="1400" b="0" dirty="0" err="1"/>
                        <a:t>Messidor</a:t>
                      </a:r>
                      <a:r>
                        <a:rPr lang="en-US" sz="1400" b="0" dirty="0"/>
                        <a:t> dataset.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4694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23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609600"/>
            <a:ext cx="8909366" cy="671290"/>
          </a:xfrm>
        </p:spPr>
        <p:txBody>
          <a:bodyPr/>
          <a:lstStyle/>
          <a:p>
            <a:r>
              <a:rPr lang="en-US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752600"/>
            <a:ext cx="8913078" cy="3777622"/>
          </a:xfrm>
        </p:spPr>
        <p:txBody>
          <a:bodyPr>
            <a:normAutofit fontScale="625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"/>
              <a:tabLst>
                <a:tab pos="457200" algn="l"/>
              </a:tabLst>
            </a:pPr>
            <a:r>
              <a:rPr lang="en-US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existing system analysis the presence of microaneurysm in fundus image.</a:t>
            </a:r>
            <a:endParaRPr lang="en-IN" sz="4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"/>
              <a:tabLst>
                <a:tab pos="457200" algn="l"/>
              </a:tabLst>
            </a:pPr>
            <a:r>
              <a:rPr lang="en-IN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Semantic segmentation divides the </a:t>
            </a:r>
            <a:r>
              <a:rPr lang="en-US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image pixels based on their common semantic to identify the feature of microaneurysm.</a:t>
            </a:r>
            <a:endParaRPr lang="en-IN" sz="4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"/>
              <a:tabLst>
                <a:tab pos="457200" algn="l"/>
              </a:tabLst>
            </a:pPr>
            <a:r>
              <a:rPr lang="en-US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Using convolutional neural network algorithms that embeds deep learning as a core component accelerated with GPU which will perform medical image </a:t>
            </a:r>
            <a:r>
              <a:rPr lang="en-IN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detection.</a:t>
            </a:r>
          </a:p>
          <a:p>
            <a:pPr marL="0" indent="0" algn="l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2FB367-B37D-A246-30FE-55AD29AC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13070F-9395-C9C7-E1F0-DD76C5540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046" y="1600200"/>
            <a:ext cx="8909366" cy="4633690"/>
          </a:xfrm>
        </p:spPr>
        <p:txBody>
          <a:bodyPr>
            <a:normAutofit/>
          </a:bodyPr>
          <a:lstStyle/>
          <a:p>
            <a:pPr algn="just"/>
            <a:r>
              <a:rPr lang="en-US" sz="2100" b="0" i="0" dirty="0">
                <a:solidFill>
                  <a:srgbClr val="212121"/>
                </a:solidFill>
                <a:effectLst/>
                <a:latin typeface="Cambria" panose="02040503050406030204" pitchFamily="18" charset="0"/>
              </a:rPr>
              <a:t>The primary issue is the grading of the retinal images by ophthalmologists (retinal specialists) or trained persons, whose numbers are very scarce compared to the load of patients requiring screening. </a:t>
            </a:r>
          </a:p>
          <a:p>
            <a:pPr algn="just"/>
            <a:r>
              <a:rPr lang="en-US" sz="2100" b="0" i="0" dirty="0">
                <a:solidFill>
                  <a:srgbClr val="212121"/>
                </a:solidFill>
                <a:effectLst/>
                <a:latin typeface="Cambria" panose="02040503050406030204" pitchFamily="18" charset="0"/>
              </a:rPr>
              <a:t>Second, some of these patients are based in rural areas and can’t visit an eye care provider. </a:t>
            </a:r>
          </a:p>
          <a:p>
            <a:pPr algn="just"/>
            <a:r>
              <a:rPr lang="en-US" sz="2100" b="0" i="0" dirty="0">
                <a:solidFill>
                  <a:srgbClr val="212121"/>
                </a:solidFill>
                <a:effectLst/>
                <a:latin typeface="Cambria" panose="02040503050406030204" pitchFamily="18" charset="0"/>
              </a:rPr>
              <a:t>Thirdly, as such follow ups are required for years together, the attitude, and/or behavioral aspects negatively impact the patients practice despite knowledge of consequences.</a:t>
            </a:r>
          </a:p>
          <a:p>
            <a:pPr algn="just"/>
            <a:r>
              <a:rPr lang="en-US" sz="2100" b="0" i="0" dirty="0">
                <a:solidFill>
                  <a:srgbClr val="212121"/>
                </a:solidFill>
                <a:effectLst/>
                <a:latin typeface="Cambria" panose="02040503050406030204" pitchFamily="18" charset="0"/>
              </a:rPr>
              <a:t>These issues can be solved with provision of an automated imaging system within easy reach of the patient. 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3884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2" y="609600"/>
            <a:ext cx="4876800" cy="6712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3012" y="1752600"/>
            <a:ext cx="8913078" cy="3777622"/>
          </a:xfrm>
        </p:spPr>
        <p:txBody>
          <a:bodyPr>
            <a:noAutofit/>
          </a:bodyPr>
          <a:lstStyle/>
          <a:p>
            <a:pPr algn="just"/>
            <a:r>
              <a:rPr lang="en-US" sz="25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5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input retina image is collected from the user and fed to the system. 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Image pre-processing steps are applied.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Feature extraction</a:t>
            </a:r>
            <a:r>
              <a:rPr lang="en-US" sz="25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and feature selection is done to examine for further process. 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Faster retinal convolutional neural network algorithm is used to classify the level of retinopathy.</a:t>
            </a:r>
            <a:endParaRPr lang="en-US" sz="25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98612" y="609600"/>
            <a:ext cx="8909366" cy="6712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BLOCKDIAGRAM :</a:t>
            </a:r>
            <a:endParaRPr lang="en-US" dirty="0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2" y="1828800"/>
            <a:ext cx="98298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F7D0043-8DBD-E4DB-E2D9-4710997CF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Before extracting iris features, the iris image is preprocessed to localize the pupillary (inner) and limbic (outer) boundaries.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Subsequently, the localized iris is transformed to a rectangular template of constant size to cope up with the Retinal under varying illumination conditions.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done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Daugman's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Rubber Sheet Model.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A535C7-C564-32E5-FA7F-B942BF787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Module</a:t>
            </a:r>
          </a:p>
        </p:txBody>
      </p:sp>
    </p:spTree>
    <p:extLst>
      <p:ext uri="{BB962C8B-B14F-4D97-AF65-F5344CB8AC3E}">
        <p14:creationId xmlns:p14="http://schemas.microsoft.com/office/powerpoint/2010/main" val="320187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E688EC6E-B756-F3ED-9D88-8368E2430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normalized strip corresponding to each Retina is first enhanced to ensure extraction of more discriminative features.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project, the enhancement of iris strip comprises of formation of uniformly illuminated Retinal image and contrast enhancement.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consider the effect of non-uniform illumination, the image is subdivided into blocks and mean of each block will act as coarse estimation of illumination for that block.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ABA2F23F-C146-6175-07BE-2999F5943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Module</a:t>
            </a:r>
          </a:p>
        </p:txBody>
      </p:sp>
    </p:spTree>
    <p:extLst>
      <p:ext uri="{BB962C8B-B14F-4D97-AF65-F5344CB8AC3E}">
        <p14:creationId xmlns:p14="http://schemas.microsoft.com/office/powerpoint/2010/main" val="407462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42582D68-439E-C9C4-A2DF-FDC1CFBFB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XOR-SUM Code In this technique, feature extraction is achieved through following steps: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wavelet decomposition x 2D Gabor filtering x XOR-SUM Code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552491C-772C-02B9-A5B5-930A6237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Module</a:t>
            </a:r>
          </a:p>
        </p:txBody>
      </p:sp>
    </p:spTree>
    <p:extLst>
      <p:ext uri="{BB962C8B-B14F-4D97-AF65-F5344CB8AC3E}">
        <p14:creationId xmlns:p14="http://schemas.microsoft.com/office/powerpoint/2010/main" val="193701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3CF4285C-5B03-798D-CC9F-D4DA80C70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Retinal scans target the capillary prototype in the retina but it requires a secure physical contact with a scanning device.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Retinopathy does not need such secure physical contact but Retinopathy systems are expensive and need a large amount of computer storage.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AEE5E830-3D98-79EF-8457-46B63D90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&amp; Classification Module</a:t>
            </a:r>
          </a:p>
        </p:txBody>
      </p:sp>
    </p:spTree>
    <p:extLst>
      <p:ext uri="{BB962C8B-B14F-4D97-AF65-F5344CB8AC3E}">
        <p14:creationId xmlns:p14="http://schemas.microsoft.com/office/powerpoint/2010/main" val="4592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74812" y="2362200"/>
            <a:ext cx="9753600" cy="6538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 SYSTEM CONFIGURATION 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2055812" y="3124200"/>
            <a:ext cx="9448800" cy="914400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i5 PROCESSOR and Above</a:t>
            </a:r>
          </a:p>
          <a:p>
            <a:r>
              <a:rPr lang="en-US" sz="8000" dirty="0">
                <a:solidFill>
                  <a:schemeClr val="tx1"/>
                </a:solidFill>
              </a:rPr>
              <a:t>OS : WINDOWS 7 and Above</a:t>
            </a:r>
            <a:endParaRPr lang="en-IN" sz="80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rgbClr val="766F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14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000" dirty="0">
                <a:solidFill>
                  <a:srgbClr val="222222"/>
                </a:solidFill>
                <a:cs typeface="Times New Roman" panose="02020603050405020304" pitchFamily="18" charset="0"/>
              </a:rPr>
              <a:t>Eye clinics</a:t>
            </a:r>
          </a:p>
          <a:p>
            <a:pPr algn="l"/>
            <a:r>
              <a:rPr lang="en-IN" sz="8000" dirty="0">
                <a:solidFill>
                  <a:srgbClr val="222222"/>
                </a:solidFill>
                <a:cs typeface="Times New Roman" panose="02020603050405020304" pitchFamily="18" charset="0"/>
              </a:rPr>
              <a:t>Hospitals</a:t>
            </a:r>
            <a:endParaRPr lang="en-IN" sz="8000" b="0" i="0" u="none" strike="noStrike" baseline="0" dirty="0">
              <a:solidFill>
                <a:srgbClr val="222222"/>
              </a:solidFill>
              <a:cs typeface="Times New Roman" panose="02020603050405020304" pitchFamily="18" charset="0"/>
            </a:endParaRPr>
          </a:p>
          <a:p>
            <a:pPr algn="l"/>
            <a:endParaRPr lang="en-IN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IN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US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xmlns="" id="{D5A3F82F-764A-4B93-A1E1-1E14D8AAA963}"/>
              </a:ext>
            </a:extLst>
          </p:cNvPr>
          <p:cNvSpPr txBox="1">
            <a:spLocks/>
          </p:cNvSpPr>
          <p:nvPr/>
        </p:nvSpPr>
        <p:spPr>
          <a:xfrm>
            <a:off x="1598612" y="685800"/>
            <a:ext cx="5334000" cy="6446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USED :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xmlns="" id="{EBCA74E0-3E44-4D14-A702-9B6E1E24B5D3}"/>
              </a:ext>
            </a:extLst>
          </p:cNvPr>
          <p:cNvSpPr txBox="1">
            <a:spLocks/>
          </p:cNvSpPr>
          <p:nvPr/>
        </p:nvSpPr>
        <p:spPr>
          <a:xfrm>
            <a:off x="2055812" y="1447799"/>
            <a:ext cx="8619417" cy="914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799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Tools               : Anaconda IDE</a:t>
            </a:r>
          </a:p>
          <a:p>
            <a:r>
              <a:rPr lang="en-US" sz="2000" dirty="0">
                <a:solidFill>
                  <a:schemeClr val="tx1"/>
                </a:solidFill>
              </a:rPr>
              <a:t>JAVA version : JDK7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B1E6898-D6D9-49D8-BC2D-4A2BCA8CEC06}"/>
              </a:ext>
            </a:extLst>
          </p:cNvPr>
          <p:cNvSpPr txBox="1"/>
          <p:nvPr/>
        </p:nvSpPr>
        <p:spPr>
          <a:xfrm>
            <a:off x="1751012" y="3962400"/>
            <a:ext cx="4875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3600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3CB60B-5CDC-4060-B40D-A5771CE0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2" y="624110"/>
            <a:ext cx="9217204" cy="1128490"/>
          </a:xfrm>
        </p:spPr>
        <p:txBody>
          <a:bodyPr/>
          <a:lstStyle/>
          <a:p>
            <a:r>
              <a:rPr lang="en-IN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dirty="0">
                <a:solidFill>
                  <a:srgbClr val="766F54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243F33-B13F-4C41-8120-2F5DEF560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412" y="1600200"/>
            <a:ext cx="9598204" cy="4311022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 fast and efficient early detection of Diabetic Retinopathy is only possible if there is an effective method for segmenting the diabetic features in the fundus image. 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 proposed system presents a fast, effective and robust way of detecting diabetic features in the fundus images which can be used for classification of the images based on the severity of the disease. 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 retinal images are subjected to gray scale conversion, preprocessing and feature extraction steps. 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 extracted features are fed to a Fast Regional Neural Network classifier which will classify the images into different severity levels. 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Thus this Fast Regional Neural Network technique has given a successful DR screening method which helps to detect the disease in multiple stages.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2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98612" y="685800"/>
            <a:ext cx="4191000" cy="688258"/>
          </a:xfrm>
        </p:spPr>
        <p:txBody>
          <a:bodyPr/>
          <a:lstStyle/>
          <a:p>
            <a:r>
              <a:rPr lang="en-US" b="1" dirty="0">
                <a:solidFill>
                  <a:srgbClr val="766F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1979612" y="1755058"/>
            <a:ext cx="9829800" cy="4343400"/>
          </a:xfrm>
        </p:spPr>
        <p:txBody>
          <a:bodyPr>
            <a:normAutofit lnSpcReduction="10000"/>
          </a:bodyPr>
          <a:lstStyle/>
          <a:p>
            <a:pPr marL="342900" indent="-342900" algn="just">
              <a:buClr>
                <a:srgbClr val="A53010"/>
              </a:buClr>
              <a:buFont typeface="+mj-lt"/>
              <a:buAutoNum type="arabicParenR"/>
            </a:pPr>
            <a:r>
              <a:rPr lang="en-IN" sz="2000" b="0" i="0" dirty="0" err="1">
                <a:solidFill>
                  <a:srgbClr val="333333"/>
                </a:solidFill>
                <a:effectLst/>
              </a:rPr>
              <a:t>Qiao</a:t>
            </a:r>
            <a:r>
              <a:rPr lang="en-IN" sz="2000" b="0" i="0" dirty="0">
                <a:solidFill>
                  <a:srgbClr val="333333"/>
                </a:solidFill>
                <a:effectLst/>
              </a:rPr>
              <a:t>, L., Zhu, Y., &amp; Zhou, H</a:t>
            </a:r>
            <a:r>
              <a:rPr lang="en-IN" sz="2000" b="1" i="0" dirty="0">
                <a:solidFill>
                  <a:srgbClr val="333333"/>
                </a:solidFill>
                <a:effectLst/>
              </a:rPr>
              <a:t>. Diabetic Retinopathy Detection Using Prognosis of Microaneurysm and Early Diagnosis System for Non-Proliferative Diabetic Retinopathy Based on Deep Learning Algorithms</a:t>
            </a:r>
            <a:r>
              <a:rPr lang="en-IN" sz="2000" b="0" i="0" dirty="0">
                <a:solidFill>
                  <a:srgbClr val="333333"/>
                </a:solidFill>
                <a:effectLst/>
              </a:rPr>
              <a:t>. </a:t>
            </a:r>
            <a:r>
              <a:rPr lang="en-IN" sz="2000" b="0" i="1" dirty="0">
                <a:solidFill>
                  <a:srgbClr val="333333"/>
                </a:solidFill>
                <a:effectLst/>
              </a:rPr>
              <a:t>IEEE Access</a:t>
            </a:r>
            <a:r>
              <a:rPr lang="en-IN" sz="2000" b="0" i="0" dirty="0">
                <a:solidFill>
                  <a:srgbClr val="333333"/>
                </a:solidFill>
                <a:effectLst/>
              </a:rPr>
              <a:t>, 8, 104292-104302.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IN" sz="2000" b="0" i="0" u="none" strike="noStrike" baseline="0" dirty="0">
                <a:solidFill>
                  <a:srgbClr val="222222"/>
                </a:solidFill>
              </a:rPr>
              <a:t>Costa, P., </a:t>
            </a:r>
            <a:r>
              <a:rPr lang="en-IN" sz="2000" b="0" i="0" u="none" strike="noStrike" baseline="0" dirty="0" err="1">
                <a:solidFill>
                  <a:srgbClr val="222222"/>
                </a:solidFill>
              </a:rPr>
              <a:t>Galdran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A., Smailagic, A., &amp; </a:t>
            </a:r>
            <a:r>
              <a:rPr lang="en-IN" sz="2000" b="0" i="0" u="none" strike="noStrike" baseline="0" dirty="0" err="1">
                <a:solidFill>
                  <a:srgbClr val="222222"/>
                </a:solidFill>
              </a:rPr>
              <a:t>Campilho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A. (2018</a:t>
            </a:r>
            <a:r>
              <a:rPr lang="en-IN" sz="2000" i="0" u="none" strike="noStrike" baseline="0" dirty="0">
                <a:solidFill>
                  <a:srgbClr val="222222"/>
                </a:solidFill>
              </a:rPr>
              <a:t>).</a:t>
            </a:r>
            <a:r>
              <a:rPr lang="en-IN" sz="2000" b="1" i="0" u="none" strike="noStrike" baseline="0" dirty="0">
                <a:solidFill>
                  <a:srgbClr val="222222"/>
                </a:solidFill>
              </a:rPr>
              <a:t> A weakly supervised</a:t>
            </a:r>
            <a:r>
              <a:rPr lang="en-IN" sz="2000" b="1" dirty="0">
                <a:solidFill>
                  <a:srgbClr val="222222"/>
                </a:solidFill>
              </a:rPr>
              <a:t> </a:t>
            </a:r>
            <a:r>
              <a:rPr lang="en-US" sz="2000" b="1" i="0" u="none" strike="noStrike" baseline="0" dirty="0">
                <a:solidFill>
                  <a:srgbClr val="222222"/>
                </a:solidFill>
              </a:rPr>
              <a:t>framework for interpretable diabetic retinopathy detection on retinal </a:t>
            </a:r>
            <a:r>
              <a:rPr lang="en-IN" sz="2000" b="1" i="0" u="none" strike="noStrike" baseline="0" dirty="0">
                <a:solidFill>
                  <a:srgbClr val="222222"/>
                </a:solidFill>
              </a:rPr>
              <a:t>images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. </a:t>
            </a:r>
            <a:r>
              <a:rPr lang="en-IN" sz="2000" b="0" i="1" u="none" strike="noStrike" baseline="0" dirty="0">
                <a:solidFill>
                  <a:srgbClr val="222222"/>
                </a:solidFill>
              </a:rPr>
              <a:t>IEEE Access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</a:t>
            </a:r>
            <a:r>
              <a:rPr lang="en-IN" sz="2000" b="0" i="1" u="none" strike="noStrike" baseline="0" dirty="0">
                <a:solidFill>
                  <a:srgbClr val="222222"/>
                </a:solidFill>
              </a:rPr>
              <a:t>6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18747-18758.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2000" b="0" i="0" u="none" strike="noStrike" baseline="0" dirty="0">
                <a:solidFill>
                  <a:srgbClr val="222222"/>
                </a:solidFill>
              </a:rPr>
              <a:t>Amin, J., Sharif, M., Yasmin, M., Ali, H., &amp; Fernandes, S. L. (2017). </a:t>
            </a:r>
            <a:r>
              <a:rPr lang="pt-BR" sz="2000" b="1" i="0" u="none" strike="noStrike" baseline="0" dirty="0">
                <a:solidFill>
                  <a:srgbClr val="222222"/>
                </a:solidFill>
              </a:rPr>
              <a:t>A </a:t>
            </a:r>
            <a:r>
              <a:rPr lang="en-US" sz="2000" b="1" i="0" u="none" strike="noStrike" baseline="0" dirty="0">
                <a:solidFill>
                  <a:srgbClr val="222222"/>
                </a:solidFill>
              </a:rPr>
              <a:t>method for the detection and classification of diabetic retinopathy using structural predictors of bright lesions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.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Journal of Computational Science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,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19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, 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153-164.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IN" sz="2000" b="0" i="0" u="none" strike="noStrike" baseline="0" dirty="0">
                <a:solidFill>
                  <a:srgbClr val="222222"/>
                </a:solidFill>
              </a:rPr>
              <a:t>Sandhu, H. S., </a:t>
            </a:r>
            <a:r>
              <a:rPr lang="en-IN" sz="2000" b="0" i="0" u="none" strike="noStrike" baseline="0" dirty="0" err="1">
                <a:solidFill>
                  <a:srgbClr val="222222"/>
                </a:solidFill>
              </a:rPr>
              <a:t>Eladawi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N., </a:t>
            </a:r>
            <a:r>
              <a:rPr lang="en-IN" sz="2000" b="0" i="0" u="none" strike="noStrike" baseline="0" dirty="0" err="1">
                <a:solidFill>
                  <a:srgbClr val="222222"/>
                </a:solidFill>
              </a:rPr>
              <a:t>Elmogy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M., </a:t>
            </a:r>
            <a:r>
              <a:rPr lang="en-IN" sz="2000" b="0" i="0" u="none" strike="noStrike" baseline="0" dirty="0" err="1">
                <a:solidFill>
                  <a:srgbClr val="222222"/>
                </a:solidFill>
              </a:rPr>
              <a:t>Keynton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R., Helmy, O., </a:t>
            </a:r>
            <a:r>
              <a:rPr lang="en-IN" sz="2000" b="0" i="0" u="none" strike="noStrike" baseline="0" dirty="0" err="1">
                <a:solidFill>
                  <a:srgbClr val="222222"/>
                </a:solidFill>
              </a:rPr>
              <a:t>Schaal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S., 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&amp; El-Baz, A. (2018). </a:t>
            </a:r>
            <a:r>
              <a:rPr lang="en-US" sz="2000" b="1" i="0" u="none" strike="noStrike" baseline="0" dirty="0">
                <a:solidFill>
                  <a:srgbClr val="222222"/>
                </a:solidFill>
              </a:rPr>
              <a:t>Automated diabetic retinopathy detection using optical coherence tomography angiography: a pilot study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.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British Journal of </a:t>
            </a:r>
            <a:r>
              <a:rPr lang="en-IN" sz="2000" b="0" i="1" u="none" strike="noStrike" baseline="0" dirty="0">
                <a:solidFill>
                  <a:srgbClr val="222222"/>
                </a:solidFill>
              </a:rPr>
              <a:t>Ophthalmology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</a:t>
            </a:r>
            <a:r>
              <a:rPr lang="en-IN" sz="2000" b="0" i="1" u="none" strike="noStrike" baseline="0" dirty="0">
                <a:solidFill>
                  <a:srgbClr val="222222"/>
                </a:solidFill>
              </a:rPr>
              <a:t>102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(11), 1564-1569.</a:t>
            </a:r>
          </a:p>
          <a:p>
            <a:pPr marL="0" indent="0" algn="l">
              <a:buNone/>
            </a:pPr>
            <a:endParaRPr lang="en-IN" sz="1800" b="0" i="0" u="none" strike="noStrike" baseline="0" dirty="0">
              <a:solidFill>
                <a:srgbClr val="222222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IN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IN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IN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32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C99CCB-1E8F-47DD-A935-FC6C27D58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212" y="1054510"/>
            <a:ext cx="9982200" cy="4889090"/>
          </a:xfrm>
        </p:spPr>
        <p:txBody>
          <a:bodyPr>
            <a:normAutofit/>
          </a:bodyPr>
          <a:lstStyle/>
          <a:p>
            <a:pPr marL="342900" indent="-342900" algn="just">
              <a:buClr>
                <a:srgbClr val="A53010"/>
              </a:buClr>
              <a:buFont typeface="+mj-lt"/>
              <a:buAutoNum type="arabicParenR" startAt="5"/>
            </a:pPr>
            <a:r>
              <a:rPr lang="fr-FR" sz="2000" b="0" i="0" u="none" strike="noStrike" baseline="0" dirty="0" err="1">
                <a:solidFill>
                  <a:srgbClr val="222222"/>
                </a:solidFill>
              </a:rPr>
              <a:t>Quellec</a:t>
            </a:r>
            <a:r>
              <a:rPr lang="fr-FR" sz="2000" b="0" i="0" u="none" strike="noStrike" baseline="0" dirty="0">
                <a:solidFill>
                  <a:srgbClr val="222222"/>
                </a:solidFill>
              </a:rPr>
              <a:t>, G., Charrière, K., Boudi, Y., </a:t>
            </a:r>
            <a:r>
              <a:rPr lang="fr-FR" sz="2000" b="0" i="0" u="none" strike="noStrike" baseline="0" dirty="0" err="1">
                <a:solidFill>
                  <a:srgbClr val="222222"/>
                </a:solidFill>
              </a:rPr>
              <a:t>Cochener</a:t>
            </a:r>
            <a:r>
              <a:rPr lang="fr-FR" sz="2000" b="0" i="0" u="none" strike="noStrike" baseline="0" dirty="0">
                <a:solidFill>
                  <a:srgbClr val="222222"/>
                </a:solidFill>
              </a:rPr>
              <a:t>, B., &amp; </a:t>
            </a:r>
            <a:r>
              <a:rPr lang="fr-FR" sz="2000" b="0" i="0" u="none" strike="noStrike" baseline="0" dirty="0" err="1">
                <a:solidFill>
                  <a:srgbClr val="222222"/>
                </a:solidFill>
              </a:rPr>
              <a:t>Lamard</a:t>
            </a:r>
            <a:r>
              <a:rPr lang="fr-FR" sz="2000" b="0" i="0" u="none" strike="noStrike" baseline="0" dirty="0">
                <a:solidFill>
                  <a:srgbClr val="222222"/>
                </a:solidFill>
              </a:rPr>
              <a:t>, M. (2017). </a:t>
            </a:r>
            <a:r>
              <a:rPr lang="en-US" sz="2000" b="1" i="0" u="none" strike="noStrike" baseline="0" dirty="0">
                <a:solidFill>
                  <a:srgbClr val="222222"/>
                </a:solidFill>
              </a:rPr>
              <a:t>Deep image mining for diabetic retinopathy screening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.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Medical image </a:t>
            </a:r>
            <a:r>
              <a:rPr lang="en-IN" sz="2000" b="0" i="1" u="none" strike="noStrike" baseline="0" dirty="0">
                <a:solidFill>
                  <a:srgbClr val="222222"/>
                </a:solidFill>
              </a:rPr>
              <a:t>analysis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</a:t>
            </a:r>
            <a:r>
              <a:rPr lang="en-IN" sz="2000" b="0" i="1" u="none" strike="noStrike" baseline="0" dirty="0">
                <a:solidFill>
                  <a:srgbClr val="222222"/>
                </a:solidFill>
              </a:rPr>
              <a:t>39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178-193.</a:t>
            </a:r>
          </a:p>
          <a:p>
            <a:pPr marL="342900" indent="-342900" algn="l">
              <a:buFont typeface="+mj-lt"/>
              <a:buAutoNum type="arabicParenR" startAt="5"/>
            </a:pPr>
            <a:r>
              <a:rPr lang="fr-FR" sz="2000" b="0" i="0" u="none" strike="noStrike" baseline="0" dirty="0">
                <a:solidFill>
                  <a:srgbClr val="222222"/>
                </a:solidFill>
              </a:rPr>
              <a:t>Zhou, W., Wu, C., Chen, D., Yi, Y., &amp; Du, W. (2017). </a:t>
            </a:r>
            <a:r>
              <a:rPr lang="fr-FR" sz="2000" b="1" i="0" u="none" strike="noStrike" baseline="0" dirty="0" err="1">
                <a:solidFill>
                  <a:srgbClr val="222222"/>
                </a:solidFill>
              </a:rPr>
              <a:t>Automatic</a:t>
            </a:r>
            <a:r>
              <a:rPr lang="fr-FR" sz="2000" b="1" dirty="0">
                <a:solidFill>
                  <a:srgbClr val="222222"/>
                </a:solidFill>
              </a:rPr>
              <a:t> </a:t>
            </a:r>
            <a:r>
              <a:rPr lang="en-US" sz="2000" b="1" i="0" u="none" strike="noStrike" baseline="0" dirty="0">
                <a:solidFill>
                  <a:srgbClr val="222222"/>
                </a:solidFill>
              </a:rPr>
              <a:t>microaneurysm detection using the sparse principal component analysis-based unsupervised classification method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.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IEEE Access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,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5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, 2563-2572.</a:t>
            </a:r>
          </a:p>
          <a:p>
            <a:pPr marL="342900" indent="-342900" algn="l">
              <a:buFont typeface="+mj-lt"/>
              <a:buAutoNum type="arabicParenR" startAt="5"/>
            </a:pPr>
            <a:r>
              <a:rPr lang="en-IN" sz="2000" b="0" i="0" u="none" strike="noStrike" baseline="0" dirty="0">
                <a:solidFill>
                  <a:srgbClr val="222222"/>
                </a:solidFill>
              </a:rPr>
              <a:t>Wang, Z., Yin, Y., Shi, J., Fang, W., Li, H., &amp; Wang, X. (2017, September)</a:t>
            </a:r>
            <a:r>
              <a:rPr lang="en-IN" sz="2000" dirty="0">
                <a:solidFill>
                  <a:srgbClr val="222222"/>
                </a:solidFill>
              </a:rPr>
              <a:t>.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 </a:t>
            </a:r>
            <a:r>
              <a:rPr lang="en-US" sz="2000" b="1" i="0" u="none" strike="noStrike" baseline="0" dirty="0">
                <a:solidFill>
                  <a:srgbClr val="222222"/>
                </a:solidFill>
              </a:rPr>
              <a:t>Zoom-in-net: Deep mining lesions for diabetic retinopathy detection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. In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International Conference on Medical Image Computing and Computer-</a:t>
            </a:r>
            <a:r>
              <a:rPr lang="en-IN" sz="2000" b="0" i="1" u="none" strike="noStrike" baseline="0" dirty="0">
                <a:solidFill>
                  <a:srgbClr val="222222"/>
                </a:solidFill>
              </a:rPr>
              <a:t>Assisted Intervention 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(pp. 267-275). Springer, Cham.</a:t>
            </a:r>
          </a:p>
          <a:p>
            <a:pPr marL="342900" indent="-342900" algn="just">
              <a:buFont typeface="+mj-lt"/>
              <a:buAutoNum type="arabicParenR" startAt="5"/>
            </a:pPr>
            <a:r>
              <a:rPr lang="en-IN" sz="2000" b="0" i="0" u="none" strike="noStrike" baseline="0" dirty="0">
                <a:solidFill>
                  <a:srgbClr val="222222"/>
                </a:solidFill>
              </a:rPr>
              <a:t>Safi, H., Safi, S., </a:t>
            </a:r>
            <a:r>
              <a:rPr lang="en-IN" sz="2000" b="0" i="0" u="none" strike="noStrike" baseline="0" dirty="0" err="1">
                <a:solidFill>
                  <a:srgbClr val="222222"/>
                </a:solidFill>
              </a:rPr>
              <a:t>Hafezi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-Moghadam, A., &amp; </a:t>
            </a:r>
            <a:r>
              <a:rPr lang="en-IN" sz="2000" b="0" i="0" u="none" strike="noStrike" baseline="0" dirty="0" err="1">
                <a:solidFill>
                  <a:srgbClr val="222222"/>
                </a:solidFill>
              </a:rPr>
              <a:t>Ahmadieh</a:t>
            </a:r>
            <a:r>
              <a:rPr lang="en-IN" sz="2000" b="0" i="0" u="none" strike="noStrike" baseline="0" dirty="0">
                <a:solidFill>
                  <a:srgbClr val="222222"/>
                </a:solidFill>
              </a:rPr>
              <a:t>, H. (2018). </a:t>
            </a:r>
            <a:r>
              <a:rPr lang="en-IN" sz="2000" b="1" i="0" u="none" strike="noStrike" baseline="0" dirty="0">
                <a:solidFill>
                  <a:srgbClr val="222222"/>
                </a:solidFill>
              </a:rPr>
              <a:t>Early </a:t>
            </a:r>
            <a:r>
              <a:rPr lang="en-US" sz="2000" b="1" i="0" u="none" strike="noStrike" baseline="0" dirty="0">
                <a:solidFill>
                  <a:srgbClr val="222222"/>
                </a:solidFill>
              </a:rPr>
              <a:t>detection of diabetic retinopathy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.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Survey of ophthalmology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, </a:t>
            </a:r>
            <a:r>
              <a:rPr lang="en-US" sz="2000" b="0" i="1" u="none" strike="noStrike" baseline="0" dirty="0">
                <a:solidFill>
                  <a:srgbClr val="222222"/>
                </a:solidFill>
              </a:rPr>
              <a:t>63</a:t>
            </a:r>
            <a:r>
              <a:rPr lang="en-US" sz="2000" b="0" i="0" u="none" strike="noStrike" baseline="0" dirty="0">
                <a:solidFill>
                  <a:srgbClr val="222222"/>
                </a:solidFill>
              </a:rPr>
              <a:t>(5), 601-608.</a:t>
            </a:r>
            <a:endParaRPr lang="en-IN" sz="2000" b="0" i="0" u="none" strike="noStrike" baseline="0" dirty="0">
              <a:solidFill>
                <a:srgbClr val="222222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US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IN" sz="1800" b="0" i="0" u="none" strike="noStrike" baseline="0" dirty="0">
              <a:solidFill>
                <a:srgbClr val="222222"/>
              </a:solidFill>
              <a:latin typeface="TimesNewRomanPSMT"/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93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BC1752A-A132-4699-B3E1-39F8D1A8A714}"/>
              </a:ext>
            </a:extLst>
          </p:cNvPr>
          <p:cNvSpPr txBox="1"/>
          <p:nvPr/>
        </p:nvSpPr>
        <p:spPr>
          <a:xfrm>
            <a:off x="1979612" y="905470"/>
            <a:ext cx="9601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C00000"/>
              </a:buClr>
              <a:buFont typeface="+mj-lt"/>
              <a:buAutoNum type="arabicParenR" startAt="9"/>
            </a:pPr>
            <a:r>
              <a:rPr lang="en-US" sz="2000" dirty="0">
                <a:effectLst/>
                <a:ea typeface="Calibri" panose="020F0502020204030204" pitchFamily="34" charset="0"/>
              </a:rPr>
              <a:t>Sri,</a:t>
            </a:r>
            <a:r>
              <a:rPr lang="en-US" sz="2000" spc="-1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</a:rPr>
              <a:t>R.</a:t>
            </a:r>
            <a:r>
              <a:rPr lang="en-US" sz="2000" spc="-15" dirty="0">
                <a:effectLst/>
                <a:ea typeface="Calibri" panose="020F0502020204030204" pitchFamily="34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</a:rPr>
              <a:t>Manjula,</a:t>
            </a:r>
            <a:r>
              <a:rPr lang="en-US" sz="2000" spc="-10" dirty="0">
                <a:effectLst/>
                <a:ea typeface="Calibri" panose="020F0502020204030204" pitchFamily="34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</a:rPr>
              <a:t>M.</a:t>
            </a:r>
            <a:r>
              <a:rPr lang="en-US" sz="2000" spc="-15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Raghupathy</a:t>
            </a:r>
            <a:r>
              <a:rPr lang="en-US" sz="2000" spc="-35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</a:rPr>
              <a:t>Reddy,</a:t>
            </a:r>
            <a:r>
              <a:rPr lang="en-US" sz="2000" spc="-10" dirty="0">
                <a:effectLst/>
                <a:ea typeface="Calibri" panose="020F0502020204030204" pitchFamily="34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</a:rPr>
              <a:t>and K.</a:t>
            </a:r>
            <a:r>
              <a:rPr lang="en-US" sz="2000" spc="-15" dirty="0">
                <a:effectLst/>
                <a:ea typeface="Calibri" panose="020F0502020204030204" pitchFamily="34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</a:rPr>
              <a:t>M. M.</a:t>
            </a:r>
            <a:r>
              <a:rPr lang="en-US" sz="2000" spc="-15" dirty="0">
                <a:effectLst/>
                <a:ea typeface="Calibri" panose="020F0502020204030204" pitchFamily="34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</a:rPr>
              <a:t>Rao.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</a:rPr>
              <a:t>"</a:t>
            </a:r>
            <a:r>
              <a:rPr lang="en-US" sz="2000" b="1" spc="-5" dirty="0">
                <a:effectLst/>
                <a:ea typeface="Calibri" panose="020F0502020204030204" pitchFamily="34" charset="0"/>
              </a:rPr>
              <a:t>Image</a:t>
            </a:r>
            <a:r>
              <a:rPr lang="en-US" sz="2000" b="1" spc="-20" dirty="0">
                <a:effectLst/>
                <a:ea typeface="Calibri" panose="020F0502020204030204" pitchFamily="34" charset="0"/>
              </a:rPr>
              <a:t> </a:t>
            </a:r>
            <a:r>
              <a:rPr lang="en-US" sz="2000" b="1" dirty="0">
                <a:effectLst/>
                <a:ea typeface="Calibri" panose="020F0502020204030204" pitchFamily="34" charset="0"/>
              </a:rPr>
              <a:t>Processing</a:t>
            </a:r>
            <a:r>
              <a:rPr lang="en-US" sz="2000" b="1" spc="-20" dirty="0">
                <a:effectLst/>
                <a:ea typeface="Calibri" panose="020F0502020204030204" pitchFamily="34" charset="0"/>
              </a:rPr>
              <a:t> </a:t>
            </a:r>
            <a:r>
              <a:rPr lang="en-US" sz="2000" b="1" dirty="0">
                <a:effectLst/>
                <a:ea typeface="Calibri" panose="020F0502020204030204" pitchFamily="34" charset="0"/>
              </a:rPr>
              <a:t>for</a:t>
            </a:r>
            <a:r>
              <a:rPr lang="en-US" sz="2000" b="1" spc="175" dirty="0">
                <a:effectLst/>
                <a:ea typeface="Calibri" panose="020F0502020204030204" pitchFamily="34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</a:rPr>
              <a:t>Identifying</a:t>
            </a:r>
            <a:r>
              <a:rPr lang="en-US" sz="2000" b="1" spc="165" dirty="0">
                <a:effectLst/>
                <a:ea typeface="Calibri" panose="020F0502020204030204" pitchFamily="34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</a:rPr>
              <a:t>Different</a:t>
            </a:r>
            <a:r>
              <a:rPr lang="en-US" sz="2000" b="1" spc="165" dirty="0">
                <a:effectLst/>
                <a:ea typeface="Calibri" panose="020F0502020204030204" pitchFamily="34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</a:rPr>
              <a:t>Stages</a:t>
            </a:r>
            <a:r>
              <a:rPr lang="en-US" sz="2000" b="1" spc="160" dirty="0">
                <a:effectLst/>
                <a:ea typeface="Calibri" panose="020F0502020204030204" pitchFamily="34" charset="0"/>
              </a:rPr>
              <a:t> </a:t>
            </a:r>
            <a:r>
              <a:rPr lang="en-US" sz="2000" b="1" spc="5" dirty="0">
                <a:effectLst/>
                <a:ea typeface="Calibri" panose="020F0502020204030204" pitchFamily="34" charset="0"/>
              </a:rPr>
              <a:t>of</a:t>
            </a:r>
            <a:r>
              <a:rPr lang="en-US" sz="2000" b="1" spc="160" dirty="0">
                <a:effectLst/>
                <a:ea typeface="Calibri" panose="020F0502020204030204" pitchFamily="34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</a:rPr>
              <a:t>Diabetic</a:t>
            </a:r>
            <a:r>
              <a:rPr lang="en-US" sz="2000" b="1" spc="155" dirty="0">
                <a:effectLst/>
                <a:ea typeface="Calibri" panose="020F0502020204030204" pitchFamily="34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</a:rPr>
              <a:t>Retinopathy</a:t>
            </a:r>
            <a:r>
              <a:rPr lang="en-US" sz="2000" spc="-5" dirty="0">
                <a:effectLst/>
                <a:ea typeface="Calibri" panose="020F0502020204030204" pitchFamily="34" charset="0"/>
              </a:rPr>
              <a:t>."</a:t>
            </a:r>
            <a:r>
              <a:rPr lang="en-US" sz="2000" spc="-10" dirty="0">
                <a:effectLst/>
                <a:ea typeface="Calibri" panose="020F0502020204030204" pitchFamily="34" charset="0"/>
              </a:rPr>
              <a:t> </a:t>
            </a:r>
            <a:r>
              <a:rPr lang="en-US" sz="2000" i="1" spc="-5" dirty="0">
                <a:effectLst/>
                <a:ea typeface="Calibri" panose="020F0502020204030204" pitchFamily="34" charset="0"/>
              </a:rPr>
              <a:t>International</a:t>
            </a:r>
            <a:r>
              <a:rPr lang="en-US" sz="2000" i="1" spc="165" dirty="0">
                <a:effectLst/>
                <a:ea typeface="Calibri" panose="020F0502020204030204" pitchFamily="34" charset="0"/>
              </a:rPr>
              <a:t> </a:t>
            </a:r>
            <a:r>
              <a:rPr lang="en-US" sz="2000" i="1" dirty="0">
                <a:effectLst/>
                <a:ea typeface="Calibri" panose="020F0502020204030204" pitchFamily="34" charset="0"/>
              </a:rPr>
              <a:t>Journal</a:t>
            </a:r>
            <a:r>
              <a:rPr lang="en-US" sz="2000" i="1" spc="160" dirty="0">
                <a:effectLst/>
                <a:ea typeface="Calibri" panose="020F0502020204030204" pitchFamily="34" charset="0"/>
              </a:rPr>
              <a:t> </a:t>
            </a:r>
            <a:r>
              <a:rPr lang="en-US" sz="2000" i="1" dirty="0">
                <a:effectLst/>
                <a:ea typeface="Calibri" panose="020F0502020204030204" pitchFamily="34" charset="0"/>
              </a:rPr>
              <a:t>on</a:t>
            </a:r>
            <a:r>
              <a:rPr lang="en-US" sz="2000" i="1" spc="365" dirty="0">
                <a:effectLst/>
                <a:ea typeface="Calibri" panose="020F0502020204030204" pitchFamily="34" charset="0"/>
              </a:rPr>
              <a:t> </a:t>
            </a:r>
            <a:r>
              <a:rPr lang="en-US" sz="2000" i="1" spc="-5" dirty="0">
                <a:effectLst/>
                <a:ea typeface="Calibri" panose="020F0502020204030204" pitchFamily="34" charset="0"/>
              </a:rPr>
              <a:t>Recent</a:t>
            </a:r>
            <a:r>
              <a:rPr lang="en-US" sz="2000" i="1" spc="-25" dirty="0">
                <a:effectLst/>
                <a:ea typeface="Calibri" panose="020F0502020204030204" pitchFamily="34" charset="0"/>
              </a:rPr>
              <a:t> </a:t>
            </a:r>
            <a:r>
              <a:rPr lang="en-US" sz="2000" i="1" spc="-5" dirty="0">
                <a:effectLst/>
                <a:ea typeface="Calibri" panose="020F0502020204030204" pitchFamily="34" charset="0"/>
              </a:rPr>
              <a:t>Trends</a:t>
            </a:r>
            <a:r>
              <a:rPr lang="en-US" sz="2000" i="1" spc="-25" dirty="0">
                <a:effectLst/>
                <a:ea typeface="Calibri" panose="020F0502020204030204" pitchFamily="34" charset="0"/>
              </a:rPr>
              <a:t> </a:t>
            </a:r>
            <a:r>
              <a:rPr lang="en-US" sz="2000" i="1" dirty="0">
                <a:effectLst/>
                <a:ea typeface="Calibri" panose="020F0502020204030204" pitchFamily="34" charset="0"/>
              </a:rPr>
              <a:t>in</a:t>
            </a:r>
            <a:r>
              <a:rPr lang="en-US" sz="2000" i="1" spc="-15" dirty="0">
                <a:effectLst/>
                <a:ea typeface="Calibri" panose="020F0502020204030204" pitchFamily="34" charset="0"/>
              </a:rPr>
              <a:t> </a:t>
            </a:r>
            <a:r>
              <a:rPr lang="en-US" sz="2000" i="1" spc="-5" dirty="0">
                <a:effectLst/>
                <a:ea typeface="Calibri" panose="020F0502020204030204" pitchFamily="34" charset="0"/>
              </a:rPr>
              <a:t>Engineering</a:t>
            </a:r>
            <a:r>
              <a:rPr lang="en-US" sz="2000" i="1" dirty="0">
                <a:effectLst/>
                <a:ea typeface="Calibri" panose="020F0502020204030204" pitchFamily="34" charset="0"/>
              </a:rPr>
              <a:t> &amp;</a:t>
            </a:r>
            <a:r>
              <a:rPr lang="en-US" sz="2000" i="1" spc="-50" dirty="0">
                <a:effectLst/>
                <a:ea typeface="Calibri" panose="020F0502020204030204" pitchFamily="34" charset="0"/>
              </a:rPr>
              <a:t> </a:t>
            </a:r>
            <a:r>
              <a:rPr lang="en-US" sz="2000" i="1" spc="-5" dirty="0">
                <a:effectLst/>
                <a:ea typeface="Calibri" panose="020F0502020204030204" pitchFamily="34" charset="0"/>
              </a:rPr>
              <a:t>Technology</a:t>
            </a:r>
            <a:r>
              <a:rPr lang="en-US" sz="2000" i="1" spc="-2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</a:rPr>
              <a:t>11.1</a:t>
            </a:r>
            <a:r>
              <a:rPr lang="en-US" sz="2000" spc="-15" dirty="0">
                <a:effectLst/>
                <a:ea typeface="Calibri" panose="020F0502020204030204" pitchFamily="34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</a:rPr>
              <a:t>(2014):</a:t>
            </a:r>
            <a:r>
              <a:rPr lang="en-US" sz="2000" spc="-2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</a:rPr>
              <a:t>83.</a:t>
            </a:r>
          </a:p>
          <a:p>
            <a:pPr marL="342900" indent="-342900" algn="just">
              <a:buClr>
                <a:srgbClr val="C00000"/>
              </a:buClr>
              <a:buFont typeface="+mj-lt"/>
              <a:buAutoNum type="arabicParenR" startAt="9"/>
            </a:pP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Soumya</a:t>
            </a:r>
            <a:r>
              <a:rPr lang="en-US" sz="2000" spc="28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Sree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000" spc="28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A.Rafega</a:t>
            </a:r>
            <a:r>
              <a:rPr lang="en-US" sz="2000" spc="1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Beham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spc="29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BP</a:t>
            </a:r>
            <a:r>
              <a:rPr lang="en-US" sz="2000" b="1" spc="29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SVM</a:t>
            </a:r>
            <a:r>
              <a:rPr lang="en-US" sz="2000" b="1" spc="2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en-US" sz="2000" b="1" spc="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Diagnosis</a:t>
            </a:r>
            <a:r>
              <a:rPr lang="en-US" sz="2000" b="1" spc="29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 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Diabetic</a:t>
            </a:r>
            <a:r>
              <a:rPr lang="en-US" sz="2000" b="1" spc="40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Retinopathy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r>
              <a:rPr lang="en-US" sz="2000" spc="4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en-US" sz="2000" spc="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en-US" sz="2000" spc="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000" spc="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Innovative</a:t>
            </a:r>
            <a:r>
              <a:rPr lang="en-US" sz="2000" spc="2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Research</a:t>
            </a:r>
            <a:r>
              <a:rPr lang="en-US" sz="2000" spc="3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2000" spc="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Computer</a:t>
            </a:r>
            <a:r>
              <a:rPr lang="en-US" sz="2000" spc="2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000" spc="34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r>
              <a:rPr lang="en-US" sz="2000" spc="-2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Engineering</a:t>
            </a:r>
            <a:r>
              <a:rPr lang="en-US" sz="2000" spc="-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Vol.</a:t>
            </a:r>
            <a:r>
              <a:rPr lang="en-US" sz="2000" spc="-2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3,</a:t>
            </a:r>
            <a:r>
              <a:rPr lang="en-US" sz="2000" spc="-1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Issue</a:t>
            </a:r>
            <a:r>
              <a:rPr lang="en-US" sz="2000" spc="-2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6,</a:t>
            </a:r>
            <a:r>
              <a:rPr lang="en-US" sz="2000" spc="-2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June</a:t>
            </a:r>
            <a:r>
              <a:rPr lang="en-US" sz="2000" spc="-2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2015.</a:t>
            </a:r>
            <a:endParaRPr lang="en-US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+mj-lt"/>
              <a:buAutoNum type="arabicParenR" startAt="9"/>
            </a:pP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Aravind,</a:t>
            </a:r>
            <a:r>
              <a:rPr lang="en-US" sz="2000" spc="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C.,</a:t>
            </a:r>
            <a:r>
              <a:rPr lang="en-US" sz="2000" spc="1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M.</a:t>
            </a:r>
            <a:r>
              <a:rPr lang="en-US" sz="2000" spc="19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Ponnibala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000" spc="1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000" spc="19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</a:t>
            </a:r>
            <a:r>
              <a:rPr lang="en-US" sz="2000" spc="1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Vijayachitra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spc="1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Automatic</a:t>
            </a:r>
            <a:r>
              <a:rPr lang="en-US" sz="2000" b="1" spc="19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detection</a:t>
            </a:r>
            <a:r>
              <a:rPr lang="en-US" sz="2000" b="1" spc="19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000" b="1" spc="28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microaneurysms</a:t>
            </a:r>
            <a:r>
              <a:rPr lang="en-US" sz="2000" b="1" spc="2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000" b="1" spc="2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Classification</a:t>
            </a:r>
            <a:r>
              <a:rPr lang="en-US" sz="2000" b="1" spc="2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000" b="1" spc="23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diabetic</a:t>
            </a:r>
            <a:r>
              <a:rPr lang="en-US" sz="2000" b="1" spc="22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retinopathy</a:t>
            </a:r>
            <a:r>
              <a:rPr lang="en-US" sz="2000" b="1" spc="21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images</a:t>
            </a:r>
            <a:r>
              <a:rPr lang="en-US" sz="2000" b="1" spc="23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using</a:t>
            </a:r>
            <a:r>
              <a:rPr lang="en-US" sz="2000" b="1" spc="22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SVM</a:t>
            </a:r>
            <a:r>
              <a:rPr lang="en-US" sz="2000" b="1" spc="42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technique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."</a:t>
            </a:r>
            <a:r>
              <a:rPr lang="en-US" sz="2000" spc="-1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IJCA</a:t>
            </a:r>
            <a:r>
              <a:rPr lang="en-US" sz="2000" spc="18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Proceedings</a:t>
            </a:r>
            <a:r>
              <a:rPr lang="en-US" sz="2000" spc="1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n-US" sz="2000" spc="16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en-US" sz="2000" spc="1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conference</a:t>
            </a:r>
            <a:r>
              <a:rPr lang="en-US" sz="2000" spc="1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n-US" sz="2000" spc="18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innovations</a:t>
            </a:r>
            <a:r>
              <a:rPr lang="en-US" sz="2000" spc="1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2000" spc="30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intelligent</a:t>
            </a:r>
            <a:r>
              <a:rPr lang="en-US" sz="2000" spc="17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instrumentation,</a:t>
            </a:r>
            <a:r>
              <a:rPr lang="en-US" sz="2000" spc="17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optimization</a:t>
            </a:r>
            <a:r>
              <a:rPr lang="en-US" sz="2000" spc="16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000" spc="16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Electrical</a:t>
            </a:r>
            <a:r>
              <a:rPr lang="en-US" sz="2000" spc="17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en-US" sz="2000" spc="18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ICIIIOES</a:t>
            </a:r>
            <a:r>
              <a:rPr lang="en-US" sz="2000" spc="17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(11).</a:t>
            </a:r>
            <a:r>
              <a:rPr lang="en-US" sz="2000" spc="34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2013.</a:t>
            </a:r>
          </a:p>
          <a:p>
            <a:pPr marL="342900" indent="-342900" algn="just">
              <a:buClr>
                <a:srgbClr val="C00000"/>
              </a:buClr>
              <a:buFont typeface="+mj-lt"/>
              <a:buAutoNum type="arabicParenR" startAt="9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000" spc="13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spc="12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Labhade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L</a:t>
            </a:r>
            <a:r>
              <a:rPr lang="en-US" sz="2000" spc="1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spc="12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Chouthmol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spc="12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Diabetic</a:t>
            </a:r>
            <a:r>
              <a:rPr lang="en-US" sz="2000" b="1" spc="12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Retinopathy</a:t>
            </a:r>
            <a:r>
              <a:rPr lang="en-US" sz="2000" b="1" spc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en-US" sz="2000" b="1" spc="13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2000" b="1" spc="12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2000" b="1" spc="17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”. International</a:t>
            </a:r>
            <a:r>
              <a:rPr lang="en-US" sz="2000" spc="8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n-US" sz="2000" spc="8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8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  <a:r>
              <a:rPr lang="en-US" sz="2000" spc="8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en-US" sz="2000" spc="9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8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2000" spc="7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9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z="2000" spc="9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ISSN</a:t>
            </a:r>
            <a:r>
              <a:rPr lang="en-US" sz="2000" spc="-2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No.:2349-9745,</a:t>
            </a:r>
            <a:r>
              <a:rPr lang="en-US" sz="2000" spc="-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US" sz="2000" spc="-2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28-30</a:t>
            </a:r>
            <a:r>
              <a:rPr lang="en-US" sz="2000" spc="-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April,</a:t>
            </a:r>
            <a:r>
              <a:rPr lang="en-US" sz="2000" spc="-15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endParaRPr lang="en-IN" sz="2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46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F37E5E31-9E95-4AAA-A869-90819A1AE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3932" y="1700808"/>
            <a:ext cx="8913077" cy="2262781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xmlns="" id="{747774B4-C527-4A43-B7AF-FDB0873BDE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56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977</TotalTime>
  <Words>1999</Words>
  <Application>Microsoft Office PowerPoint</Application>
  <PresentationFormat>Custom</PresentationFormat>
  <Paragraphs>174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Cambria</vt:lpstr>
      <vt:lpstr>Century Gothic</vt:lpstr>
      <vt:lpstr>Times New Roman</vt:lpstr>
      <vt:lpstr>TimesNewRomanPSMT</vt:lpstr>
      <vt:lpstr>Wingdings 3</vt:lpstr>
      <vt:lpstr>Wisp</vt:lpstr>
      <vt:lpstr>PowerPoint Presentation</vt:lpstr>
      <vt:lpstr>CONTENTS :</vt:lpstr>
      <vt:lpstr>OBJECTIVE :</vt:lpstr>
      <vt:lpstr>ABSTRACT :</vt:lpstr>
      <vt:lpstr>INTRODUCTION :</vt:lpstr>
      <vt:lpstr> </vt:lpstr>
      <vt:lpstr>LITERATURE SURVEY: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WORK:</vt:lpstr>
      <vt:lpstr>PROBLEM STATEMENT</vt:lpstr>
      <vt:lpstr>PROPOSED WORK:</vt:lpstr>
      <vt:lpstr>PROPOSED BLOCKDIAGRAM :</vt:lpstr>
      <vt:lpstr>Preprocessing Module</vt:lpstr>
      <vt:lpstr>Normalization Module</vt:lpstr>
      <vt:lpstr>Feature Extraction Module</vt:lpstr>
      <vt:lpstr>Matching &amp; Classification Module</vt:lpstr>
      <vt:lpstr>REQUIRED SYSTEM CONFIGURATION :</vt:lpstr>
      <vt:lpstr>CONCLUSION:</vt:lpstr>
      <vt:lpstr>REFERENCE :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 MANAKULA VINAYAGAR ENGINEERING COLLEGE</dc:title>
  <dc:creator>varun selvam</dc:creator>
  <cp:lastModifiedBy>Microsoft account</cp:lastModifiedBy>
  <cp:revision>78</cp:revision>
  <dcterms:created xsi:type="dcterms:W3CDTF">2021-11-01T09:54:55Z</dcterms:created>
  <dcterms:modified xsi:type="dcterms:W3CDTF">2023-12-05T06:31:56Z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